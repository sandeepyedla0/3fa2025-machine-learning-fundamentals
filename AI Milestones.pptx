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Play"/>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bold.fntdata"/><Relationship Id="rId14"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A</a:t>
            </a:r>
            <a:r>
              <a:rPr lang="en"/>
              <a:t>rtificial Intelligence (AI) has evolved through cycles of optimism, breakthrough, and setback from its mid-20th century inception to today’s era of ubiquitous </a:t>
            </a:r>
            <a:r>
              <a:rPr b="1" lang="en"/>
              <a:t>generative AI</a:t>
            </a:r>
            <a:r>
              <a:rPr lang="en"/>
              <a:t>. The timeline below highlights </a:t>
            </a:r>
            <a:r>
              <a:rPr b="1" lang="en"/>
              <a:t>global</a:t>
            </a:r>
            <a:r>
              <a:rPr lang="en"/>
              <a:t> events in AI – not just a few key moments, but a comprehensive progression – from early academic ideas to modern industry-changing innovations. Each date includes a brief note on its significance. </a:t>
            </a:r>
            <a:r>
              <a:rPr i="1" lang="en"/>
              <a:t>(Sources for these milestones are cited after the timeline.)</a:t>
            </a:r>
            <a:endParaRPr i="1"/>
          </a:p>
          <a:p>
            <a:pPr indent="0" lvl="0" marL="0" rtl="0" algn="l">
              <a:lnSpc>
                <a:spcPct val="115000"/>
              </a:lnSpc>
              <a:spcBef>
                <a:spcPts val="1200"/>
              </a:spcBef>
              <a:spcAft>
                <a:spcPts val="0"/>
              </a:spcAft>
              <a:buNone/>
            </a:pPr>
            <a:r>
              <a:rPr i="1" lang="en"/>
              <a:t>Timeline of AI (vertical, 1950–2025) highlighting major developments each year. Early milestones like the 1956 Dartmouth workshop (which officially </a:t>
            </a:r>
            <a:r>
              <a:rPr b="1" i="1" lang="en"/>
              <a:t>coined the term AI</a:t>
            </a:r>
            <a:r>
              <a:rPr i="1" lang="en"/>
              <a:t>) and the 1960s’ first chatbots and robots set the stage. The timeline shows the </a:t>
            </a:r>
            <a:r>
              <a:rPr b="1" i="1" lang="en"/>
              <a:t>“AI winters”</a:t>
            </a:r>
            <a:r>
              <a:rPr i="1" lang="en"/>
              <a:t> of reduced funding (mid-1970s and late 1980s) and the revival through expert systems in the 1980s. It traces the rise of machine learning breakthroughs – from the </a:t>
            </a:r>
            <a:r>
              <a:rPr b="1" i="1" lang="en"/>
              <a:t>1997 Deep Blue</a:t>
            </a:r>
            <a:r>
              <a:rPr i="1" lang="en"/>
              <a:t> chess victory, to the </a:t>
            </a:r>
            <a:r>
              <a:rPr b="1" i="1" lang="en"/>
              <a:t>2012 deep learning revolution</a:t>
            </a:r>
            <a:r>
              <a:rPr i="1" lang="en"/>
              <a:t>, and onward to </a:t>
            </a:r>
            <a:r>
              <a:rPr b="1" i="1" lang="en"/>
              <a:t>transformers and large language models</a:t>
            </a:r>
            <a:r>
              <a:rPr i="1" lang="en"/>
              <a:t> that culminate in </a:t>
            </a:r>
            <a:r>
              <a:rPr b="1" i="1" lang="en"/>
              <a:t>ChatGPT (2022)</a:t>
            </a:r>
            <a:r>
              <a:rPr i="1" lang="en"/>
              <a:t> and today’s race toward ever more general AI.</a:t>
            </a:r>
            <a:endParaRPr i="1"/>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9ec8c0919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9ec8c0919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eda2a3fc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eda2a3fc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1️⃣ </a:t>
            </a:r>
            <a:r>
              <a:rPr b="1" lang="en">
                <a:solidFill>
                  <a:schemeClr val="dk1"/>
                </a:solidFill>
              </a:rPr>
              <a:t>Turing Test</a:t>
            </a:r>
            <a:r>
              <a:rPr lang="en">
                <a:solidFill>
                  <a:schemeClr val="dk1"/>
                </a:solidFill>
              </a:rPr>
              <a:t> – </a:t>
            </a:r>
            <a:r>
              <a:rPr i="1" lang="en">
                <a:solidFill>
                  <a:schemeClr val="dk1"/>
                </a:solidFill>
              </a:rPr>
              <a:t>A test where an evaluator tries to tell apart a human and a machine; if they can’t, the machine is considered intelligent.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2️⃣ </a:t>
            </a:r>
            <a:r>
              <a:rPr b="1" lang="en">
                <a:solidFill>
                  <a:schemeClr val="dk1"/>
                </a:solidFill>
              </a:rPr>
              <a:t>ELIZA Chatbot</a:t>
            </a:r>
            <a:r>
              <a:rPr lang="en">
                <a:solidFill>
                  <a:schemeClr val="dk1"/>
                </a:solidFill>
              </a:rPr>
              <a:t> – </a:t>
            </a:r>
            <a:r>
              <a:rPr i="1" lang="en">
                <a:solidFill>
                  <a:schemeClr val="dk1"/>
                </a:solidFill>
              </a:rPr>
              <a:t>Used pattern matching and prewritten responses to simulate human conversation — the first step toward modern chatbots.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3️⃣ </a:t>
            </a:r>
            <a:r>
              <a:rPr b="1" lang="en">
                <a:solidFill>
                  <a:schemeClr val="dk1"/>
                </a:solidFill>
              </a:rPr>
              <a:t>1977 Milestone</a:t>
            </a:r>
            <a:r>
              <a:rPr lang="en">
                <a:solidFill>
                  <a:schemeClr val="dk1"/>
                </a:solidFill>
              </a:rPr>
              <a:t> – </a:t>
            </a:r>
            <a:r>
              <a:rPr i="1" lang="en">
                <a:solidFill>
                  <a:schemeClr val="dk1"/>
                </a:solidFill>
              </a:rPr>
              <a:t>Machines began processing data, calculating moves, and making logical decisions, outperforming humans in specific tasks.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4️⃣ </a:t>
            </a:r>
            <a:r>
              <a:rPr b="1" lang="en">
                <a:solidFill>
                  <a:schemeClr val="dk1"/>
                </a:solidFill>
              </a:rPr>
              <a:t>Neural Networks &amp; Vision</a:t>
            </a:r>
            <a:r>
              <a:rPr lang="en">
                <a:solidFill>
                  <a:schemeClr val="dk1"/>
                </a:solidFill>
              </a:rPr>
              <a:t> – </a:t>
            </a:r>
            <a:r>
              <a:rPr i="1" lang="en">
                <a:solidFill>
                  <a:schemeClr val="dk1"/>
                </a:solidFill>
              </a:rPr>
              <a:t>Neural networks revolutionized computer vision by recognizing images more accurately than ever before.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5️⃣ </a:t>
            </a:r>
            <a:r>
              <a:rPr b="1" lang="en">
                <a:solidFill>
                  <a:schemeClr val="dk1"/>
                </a:solidFill>
              </a:rPr>
              <a:t>Cloud &amp; Generative AI</a:t>
            </a:r>
            <a:r>
              <a:rPr lang="en">
                <a:solidFill>
                  <a:schemeClr val="dk1"/>
                </a:solidFill>
              </a:rPr>
              <a:t> – </a:t>
            </a:r>
            <a:r>
              <a:rPr i="1" lang="en">
                <a:solidFill>
                  <a:schemeClr val="dk1"/>
                </a:solidFill>
              </a:rPr>
              <a:t>Platforms like AWS, Azure, and Google Cloud powered the rise of Generative AI models such as GPT-3.</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6️⃣ </a:t>
            </a:r>
            <a:r>
              <a:rPr b="1" lang="en">
                <a:solidFill>
                  <a:schemeClr val="dk1"/>
                </a:solidFill>
              </a:rPr>
              <a:t>Quantum AI Future</a:t>
            </a:r>
            <a:r>
              <a:rPr lang="en">
                <a:solidFill>
                  <a:schemeClr val="dk1"/>
                </a:solidFill>
              </a:rPr>
              <a:t> – </a:t>
            </a:r>
            <a:r>
              <a:rPr i="1" lang="en">
                <a:solidFill>
                  <a:schemeClr val="dk1"/>
                </a:solidFill>
              </a:rPr>
              <a:t>Quantum computing could make AI 13,000× faster, supercharging intelligence and solving problems beyond today’s limits.</a:t>
            </a:r>
            <a:endParaRPr i="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f0502069b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f0502069b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f0502069b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f0502069b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f0502069b_7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f0502069b_7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f0502069b_8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f0502069b_8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eda2a3fc1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eda2a3fc1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leanix.net/en/wiki/ai-governance/history-of-a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173750" y="0"/>
            <a:ext cx="64516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0909"/>
              <a:buNone/>
            </a:pPr>
            <a:r>
              <a:rPr b="1" lang="en" sz="2420"/>
              <a:t>Historical Context – Major Milestones in AI (1950s Onwards)</a:t>
            </a:r>
            <a:endParaRPr b="1" sz="2420"/>
          </a:p>
        </p:txBody>
      </p:sp>
      <p:sp>
        <p:nvSpPr>
          <p:cNvPr id="60" name="Google Shape;60;p1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100000"/>
              <a:buFont typeface="Arial"/>
              <a:buNone/>
            </a:pPr>
            <a:r>
              <a:t/>
            </a:r>
            <a:endParaRPr b="1" sz="1100">
              <a:solidFill>
                <a:schemeClr val="dk1"/>
              </a:solidFill>
            </a:endParaRPr>
          </a:p>
          <a:p>
            <a:pPr indent="0" lvl="0" marL="0" rtl="0" algn="l">
              <a:spcBef>
                <a:spcPts val="1200"/>
              </a:spcBef>
              <a:spcAft>
                <a:spcPts val="0"/>
              </a:spcAft>
              <a:buClr>
                <a:schemeClr val="dk1"/>
              </a:buClr>
              <a:buSzPct val="27500"/>
              <a:buFont typeface="Arial"/>
              <a:buNone/>
            </a:pPr>
            <a:r>
              <a:rPr b="1" lang="en" sz="4000">
                <a:solidFill>
                  <a:schemeClr val="dk1"/>
                </a:solidFill>
              </a:rPr>
              <a:t>📘 1950 – The Turing Test</a:t>
            </a:r>
            <a:br>
              <a:rPr b="1" lang="en" sz="4000">
                <a:solidFill>
                  <a:schemeClr val="dk1"/>
                </a:solidFill>
              </a:rPr>
            </a:br>
            <a:r>
              <a:rPr lang="en" sz="4000">
                <a:solidFill>
                  <a:schemeClr val="dk1"/>
                </a:solidFill>
              </a:rPr>
              <a:t> ➡️ Alan Turing introduces a benchmark for machine intelligence, laying AI’s philosophical foundation.</a:t>
            </a:r>
            <a:endParaRPr sz="4000">
              <a:solidFill>
                <a:schemeClr val="dk1"/>
              </a:solidFill>
            </a:endParaRPr>
          </a:p>
          <a:p>
            <a:pPr indent="0" lvl="0" marL="0" rtl="0" algn="l">
              <a:spcBef>
                <a:spcPts val="1200"/>
              </a:spcBef>
              <a:spcAft>
                <a:spcPts val="0"/>
              </a:spcAft>
              <a:buClr>
                <a:schemeClr val="dk1"/>
              </a:buClr>
              <a:buSzPct val="27500"/>
              <a:buFont typeface="Arial"/>
              <a:buNone/>
            </a:pPr>
            <a:r>
              <a:rPr lang="en" sz="4000">
                <a:solidFill>
                  <a:schemeClr val="dk1"/>
                </a:solidFill>
              </a:rPr>
              <a:t>🎓 </a:t>
            </a:r>
            <a:r>
              <a:rPr b="1" lang="en" sz="4000">
                <a:solidFill>
                  <a:schemeClr val="dk1"/>
                </a:solidFill>
              </a:rPr>
              <a:t>1956 – The Birth of AI</a:t>
            </a:r>
            <a:br>
              <a:rPr b="1" lang="en" sz="4000">
                <a:solidFill>
                  <a:schemeClr val="dk1"/>
                </a:solidFill>
              </a:rPr>
            </a:br>
            <a:r>
              <a:rPr lang="en" sz="4000">
                <a:solidFill>
                  <a:schemeClr val="dk1"/>
                </a:solidFill>
              </a:rPr>
              <a:t> ➡️ Dartmouth Conference officially launches AI as a field of study, coined by John McCarthy.</a:t>
            </a:r>
            <a:endParaRPr sz="4000">
              <a:solidFill>
                <a:schemeClr val="dk1"/>
              </a:solidFill>
            </a:endParaRPr>
          </a:p>
          <a:p>
            <a:pPr indent="0" lvl="0" marL="0" rtl="0" algn="l">
              <a:spcBef>
                <a:spcPts val="1200"/>
              </a:spcBef>
              <a:spcAft>
                <a:spcPts val="0"/>
              </a:spcAft>
              <a:buClr>
                <a:schemeClr val="dk1"/>
              </a:buClr>
              <a:buSzPct val="27500"/>
              <a:buFont typeface="Arial"/>
              <a:buNone/>
            </a:pPr>
            <a:r>
              <a:rPr lang="en" sz="4000">
                <a:solidFill>
                  <a:schemeClr val="dk1"/>
                </a:solidFill>
              </a:rPr>
              <a:t>💬 </a:t>
            </a:r>
            <a:r>
              <a:rPr b="1" lang="en" sz="4000">
                <a:solidFill>
                  <a:schemeClr val="dk1"/>
                </a:solidFill>
              </a:rPr>
              <a:t>1960s – Early AI Programs</a:t>
            </a:r>
            <a:br>
              <a:rPr b="1" lang="en" sz="4000">
                <a:solidFill>
                  <a:schemeClr val="dk1"/>
                </a:solidFill>
              </a:rPr>
            </a:br>
            <a:r>
              <a:rPr lang="en" sz="4000">
                <a:solidFill>
                  <a:schemeClr val="dk1"/>
                </a:solidFill>
              </a:rPr>
              <a:t> ➡️ Programs like </a:t>
            </a:r>
            <a:r>
              <a:rPr i="1" lang="en" sz="4000">
                <a:solidFill>
                  <a:schemeClr val="dk1"/>
                </a:solidFill>
              </a:rPr>
              <a:t>ELIZA</a:t>
            </a:r>
            <a:r>
              <a:rPr lang="en" sz="4000">
                <a:solidFill>
                  <a:schemeClr val="dk1"/>
                </a:solidFill>
              </a:rPr>
              <a:t> and </a:t>
            </a:r>
            <a:r>
              <a:rPr i="1" lang="en" sz="4000">
                <a:solidFill>
                  <a:schemeClr val="dk1"/>
                </a:solidFill>
              </a:rPr>
              <a:t>SHRDLU</a:t>
            </a:r>
            <a:r>
              <a:rPr lang="en" sz="4000">
                <a:solidFill>
                  <a:schemeClr val="dk1"/>
                </a:solidFill>
              </a:rPr>
              <a:t> showcase early attempts at language understanding.</a:t>
            </a:r>
            <a:endParaRPr sz="4000">
              <a:solidFill>
                <a:schemeClr val="dk1"/>
              </a:solidFill>
            </a:endParaRPr>
          </a:p>
          <a:p>
            <a:pPr indent="0" lvl="0" marL="0" rtl="0" algn="l">
              <a:spcBef>
                <a:spcPts val="1200"/>
              </a:spcBef>
              <a:spcAft>
                <a:spcPts val="0"/>
              </a:spcAft>
              <a:buClr>
                <a:schemeClr val="dk1"/>
              </a:buClr>
              <a:buSzPct val="27500"/>
              <a:buFont typeface="Arial"/>
              <a:buNone/>
            </a:pPr>
            <a:r>
              <a:rPr lang="en" sz="4000">
                <a:solidFill>
                  <a:schemeClr val="dk1"/>
                </a:solidFill>
              </a:rPr>
              <a:t>⚙️ </a:t>
            </a:r>
            <a:r>
              <a:rPr b="1" lang="en" sz="4000">
                <a:solidFill>
                  <a:schemeClr val="dk1"/>
                </a:solidFill>
              </a:rPr>
              <a:t>1970s – Expert Systems Emerge</a:t>
            </a:r>
            <a:br>
              <a:rPr b="1" lang="en" sz="4000">
                <a:solidFill>
                  <a:schemeClr val="dk1"/>
                </a:solidFill>
              </a:rPr>
            </a:br>
            <a:r>
              <a:rPr lang="en" sz="4000">
                <a:solidFill>
                  <a:schemeClr val="dk1"/>
                </a:solidFill>
              </a:rPr>
              <a:t> ➡️ Systems such as </a:t>
            </a:r>
            <a:r>
              <a:rPr i="1" lang="en" sz="4000">
                <a:solidFill>
                  <a:schemeClr val="dk1"/>
                </a:solidFill>
              </a:rPr>
              <a:t>MYCIN</a:t>
            </a:r>
            <a:r>
              <a:rPr lang="en" sz="4000">
                <a:solidFill>
                  <a:schemeClr val="dk1"/>
                </a:solidFill>
              </a:rPr>
              <a:t> demonstrate how AI can make specialized decisions using rules.</a:t>
            </a:r>
            <a:endParaRPr sz="4000">
              <a:solidFill>
                <a:schemeClr val="dk1"/>
              </a:solidFill>
            </a:endParaRPr>
          </a:p>
          <a:p>
            <a:pPr indent="0" lvl="0" marL="0" rtl="0" algn="l">
              <a:spcBef>
                <a:spcPts val="1200"/>
              </a:spcBef>
              <a:spcAft>
                <a:spcPts val="0"/>
              </a:spcAft>
              <a:buClr>
                <a:schemeClr val="dk1"/>
              </a:buClr>
              <a:buSzPct val="27500"/>
              <a:buFont typeface="Arial"/>
              <a:buNone/>
            </a:pPr>
            <a:r>
              <a:rPr lang="en" sz="4000">
                <a:solidFill>
                  <a:schemeClr val="dk1"/>
                </a:solidFill>
              </a:rPr>
              <a:t>🧠 </a:t>
            </a:r>
            <a:r>
              <a:rPr b="1" lang="en" sz="4000">
                <a:solidFill>
                  <a:schemeClr val="dk1"/>
                </a:solidFill>
              </a:rPr>
              <a:t>1980s – Neural Network Revival</a:t>
            </a:r>
            <a:br>
              <a:rPr b="1" lang="en" sz="4000">
                <a:solidFill>
                  <a:schemeClr val="dk1"/>
                </a:solidFill>
              </a:rPr>
            </a:br>
            <a:r>
              <a:rPr lang="en" sz="4000">
                <a:solidFill>
                  <a:schemeClr val="dk1"/>
                </a:solidFill>
              </a:rPr>
              <a:t> ➡️ Backpropagation brings neural networks back to life, enabling computers to “learn” from data.</a:t>
            </a:r>
            <a:endParaRPr sz="4000">
              <a:solidFill>
                <a:schemeClr val="dk1"/>
              </a:solidFill>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1200"/>
              </a:spcAft>
              <a:buNone/>
            </a:pPr>
            <a:r>
              <a:t/>
            </a:r>
            <a:endParaRPr/>
          </a:p>
        </p:txBody>
      </p:sp>
      <p:sp>
        <p:nvSpPr>
          <p:cNvPr id="61" name="Google Shape;61;p1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solidFill>
                  <a:schemeClr val="dk1"/>
                </a:solidFill>
              </a:rPr>
              <a:t>♟️ </a:t>
            </a:r>
            <a:r>
              <a:rPr b="1" lang="en" sz="1100">
                <a:solidFill>
                  <a:schemeClr val="dk1"/>
                </a:solidFill>
              </a:rPr>
              <a:t>1997 – IBM Deep Blue Triumph</a:t>
            </a:r>
            <a:br>
              <a:rPr b="1" lang="en" sz="1100">
                <a:solidFill>
                  <a:schemeClr val="dk1"/>
                </a:solidFill>
              </a:rPr>
            </a:br>
            <a:r>
              <a:rPr lang="en" sz="1100">
                <a:solidFill>
                  <a:schemeClr val="dk1"/>
                </a:solidFill>
              </a:rPr>
              <a:t> ➡️ AI makes history by defeating world chess champion Garry Kasparov, proving its strategic power.</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 </a:t>
            </a:r>
            <a:r>
              <a:rPr b="1" lang="en" sz="1100">
                <a:solidFill>
                  <a:schemeClr val="dk1"/>
                </a:solidFill>
              </a:rPr>
              <a:t>2000s – AI in Daily Life</a:t>
            </a:r>
            <a:br>
              <a:rPr b="1" lang="en" sz="1100">
                <a:solidFill>
                  <a:schemeClr val="dk1"/>
                </a:solidFill>
              </a:rPr>
            </a:br>
            <a:r>
              <a:rPr lang="en" sz="1100">
                <a:solidFill>
                  <a:schemeClr val="dk1"/>
                </a:solidFill>
              </a:rPr>
              <a:t> ➡️ AI becomes mainstream with smart assistants, recommendation engines, and online personalization.</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 </a:t>
            </a:r>
            <a:r>
              <a:rPr b="1" lang="en" sz="1100">
                <a:solidFill>
                  <a:schemeClr val="dk1"/>
                </a:solidFill>
              </a:rPr>
              <a:t>2010s – Deep Learning Revolution</a:t>
            </a:r>
            <a:br>
              <a:rPr b="1" lang="en" sz="1100">
                <a:solidFill>
                  <a:schemeClr val="dk1"/>
                </a:solidFill>
              </a:rPr>
            </a:br>
            <a:r>
              <a:rPr lang="en" sz="1100">
                <a:solidFill>
                  <a:schemeClr val="dk1"/>
                </a:solidFill>
              </a:rPr>
              <a:t> ➡️ Advances in GPUs and big data fuel breakthroughs in vision, speech, and natural language.</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 </a:t>
            </a:r>
            <a:r>
              <a:rPr b="1" lang="en" sz="1100">
                <a:solidFill>
                  <a:schemeClr val="dk1"/>
                </a:solidFill>
              </a:rPr>
              <a:t>2020s – Generative AI Era</a:t>
            </a:r>
            <a:br>
              <a:rPr b="1" lang="en" sz="1100">
                <a:solidFill>
                  <a:schemeClr val="dk1"/>
                </a:solidFill>
              </a:rPr>
            </a:br>
            <a:r>
              <a:rPr lang="en" sz="1100">
                <a:solidFill>
                  <a:schemeClr val="dk1"/>
                </a:solidFill>
              </a:rPr>
              <a:t> ➡️ AI models like ChatGPT transform creativity, automation, and human-computer interaction.</a:t>
            </a:r>
            <a:endParaRPr sz="1100">
              <a:solidFill>
                <a:schemeClr val="dk1"/>
              </a:solidFill>
            </a:endParaRPr>
          </a:p>
          <a:p>
            <a:pPr indent="0" lvl="0" marL="0" rtl="0" algn="l">
              <a:spcBef>
                <a:spcPts val="1200"/>
              </a:spcBef>
              <a:spcAft>
                <a:spcPts val="1200"/>
              </a:spcAft>
              <a:buNone/>
            </a:pPr>
            <a:r>
              <a:t/>
            </a:r>
            <a:endParaRPr b="1"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Screenshot 2025-10-30 at 11.23.41 PM.png"/>
          <p:cNvPicPr preferRelativeResize="0"/>
          <p:nvPr/>
        </p:nvPicPr>
        <p:blipFill>
          <a:blip r:embed="rId3">
            <a:alphaModFix/>
          </a:blip>
          <a:stretch>
            <a:fillRect/>
          </a:stretch>
        </p:blipFill>
        <p:spPr>
          <a:xfrm>
            <a:off x="0" y="0"/>
            <a:ext cx="9144003"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AI Winters</a:t>
            </a:r>
            <a:endParaRPr sz="2100"/>
          </a:p>
        </p:txBody>
      </p:sp>
      <p:sp>
        <p:nvSpPr>
          <p:cNvPr id="72" name="Google Shape;72;p16"/>
          <p:cNvSpPr txBox="1"/>
          <p:nvPr>
            <p:ph idx="1" type="body"/>
          </p:nvPr>
        </p:nvSpPr>
        <p:spPr>
          <a:xfrm>
            <a:off x="311700" y="1017725"/>
            <a:ext cx="8520600" cy="3221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000">
                <a:solidFill>
                  <a:schemeClr val="dk1"/>
                </a:solidFill>
              </a:rPr>
              <a:t>It is a period when funding for AI is less, reduced interest. Happened after periods when the outlook was promising, and the field well funded.</a:t>
            </a:r>
            <a:endParaRPr sz="1000">
              <a:solidFill>
                <a:schemeClr val="dk1"/>
              </a:solidFill>
            </a:endParaRPr>
          </a:p>
          <a:p>
            <a:pPr indent="0" lvl="0" marL="0" rtl="0" algn="l">
              <a:spcBef>
                <a:spcPts val="0"/>
              </a:spcBef>
              <a:spcAft>
                <a:spcPts val="0"/>
              </a:spcAft>
              <a:buNone/>
            </a:pPr>
            <a:r>
              <a:rPr lang="en" sz="1000">
                <a:solidFill>
                  <a:schemeClr val="dk1"/>
                </a:solidFill>
              </a:rPr>
              <a:t>Two major "winters" 1974–1980 and 1987–1993</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 sz="1200">
                <a:solidFill>
                  <a:schemeClr val="dk1"/>
                </a:solidFill>
              </a:rPr>
              <a:t>First AI Winter</a:t>
            </a:r>
            <a:endParaRPr b="1" sz="1200">
              <a:solidFill>
                <a:schemeClr val="dk1"/>
              </a:solidFill>
            </a:endParaRPr>
          </a:p>
          <a:p>
            <a:pPr indent="0" lvl="0" marL="0" rtl="0" algn="l">
              <a:spcBef>
                <a:spcPts val="200"/>
              </a:spcBef>
              <a:spcAft>
                <a:spcPts val="0"/>
              </a:spcAft>
              <a:buNone/>
            </a:pPr>
            <a:r>
              <a:rPr lang="en" sz="1000">
                <a:solidFill>
                  <a:schemeClr val="dk1"/>
                </a:solidFill>
              </a:rPr>
              <a:t>The initial optimism and ambitious predictions about AI's potential led to unrealistic expectations. The technology available during the time placed limitations on what was possible.</a:t>
            </a:r>
            <a:endParaRPr sz="1000">
              <a:solidFill>
                <a:schemeClr val="dk1"/>
              </a:solidFill>
            </a:endParaRPr>
          </a:p>
          <a:p>
            <a:pPr indent="0" lvl="0" marL="0" rtl="0" algn="l">
              <a:spcBef>
                <a:spcPts val="0"/>
              </a:spcBef>
              <a:spcAft>
                <a:spcPts val="0"/>
              </a:spcAft>
              <a:buNone/>
            </a:pPr>
            <a:r>
              <a:rPr lang="en" sz="1000">
                <a:solidFill>
                  <a:schemeClr val="dk1"/>
                </a:solidFill>
              </a:rPr>
              <a:t>Lighthill Report published in 1973 by Sir James Lighthill which criticized failure to achieve "grandiose objectives” in AI dealt a heavy blow to AI research in UK and in the US.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 sz="1200">
                <a:solidFill>
                  <a:schemeClr val="dk1"/>
                </a:solidFill>
              </a:rPr>
              <a:t>Second AI Winter</a:t>
            </a:r>
            <a:endParaRPr b="1" sz="1200">
              <a:solidFill>
                <a:schemeClr val="dk1"/>
              </a:solidFill>
            </a:endParaRPr>
          </a:p>
          <a:p>
            <a:pPr indent="0" lvl="0" marL="0" rtl="0" algn="l">
              <a:spcBef>
                <a:spcPts val="200"/>
              </a:spcBef>
              <a:spcAft>
                <a:spcPts val="0"/>
              </a:spcAft>
              <a:buNone/>
            </a:pPr>
            <a:r>
              <a:rPr lang="en" sz="1000">
                <a:solidFill>
                  <a:schemeClr val="dk1"/>
                </a:solidFill>
              </a:rPr>
              <a:t>The 1980s success of expert systems (specialized systems that try to duplicate expertise in a field, say an engineer) led to another increase in expectations about AI's capabilities. The expert systems were often limited to highly specific domains and required substantial manual input to build and updating of their knowledge bases with new data, and failed to operate outside the set rules.</a:t>
            </a:r>
            <a:endParaRPr sz="1000">
              <a:solidFill>
                <a:schemeClr val="dk1"/>
              </a:solidFill>
            </a:endParaRPr>
          </a:p>
          <a:p>
            <a:pPr indent="0" lvl="0" marL="0" rtl="0" algn="l">
              <a:spcBef>
                <a:spcPts val="0"/>
              </a:spcBef>
              <a:spcAft>
                <a:spcPts val="0"/>
              </a:spcAft>
              <a:buNone/>
            </a:pPr>
            <a:r>
              <a:rPr lang="en" sz="1000">
                <a:solidFill>
                  <a:schemeClr val="dk1"/>
                </a:solidFill>
              </a:rPr>
              <a:t>The result was that many AI applications failed to live up to the hype, leading to disappointment among investors and the public. </a:t>
            </a:r>
            <a:endParaRPr sz="1000">
              <a:solidFill>
                <a:schemeClr val="dk1"/>
              </a:solidFill>
            </a:endParaRPr>
          </a:p>
          <a:p>
            <a:pPr indent="0" lvl="0" marL="0" rtl="0" algn="l">
              <a:spcBef>
                <a:spcPts val="0"/>
              </a:spcBef>
              <a:spcAft>
                <a:spcPts val="0"/>
              </a:spcAft>
              <a:buNone/>
            </a:pPr>
            <a:r>
              <a:rPr lang="en" sz="1000">
                <a:solidFill>
                  <a:schemeClr val="dk1"/>
                </a:solidFill>
              </a:rPr>
              <a:t>There was a significant drop in investments, as the industry re-assessed the viability of AI technologies.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2020s have been a period of highest interest and funding, and chatbots like ChatGPT released in 2022 have led to extensive discussions about </a:t>
            </a:r>
            <a:r>
              <a:rPr lang="en" sz="1000">
                <a:solidFill>
                  <a:schemeClr val="dk1"/>
                </a:solidFill>
              </a:rPr>
              <a:t>effect</a:t>
            </a:r>
            <a:r>
              <a:rPr lang="en" sz="1000">
                <a:solidFill>
                  <a:schemeClr val="dk1"/>
                </a:solidFill>
              </a:rPr>
              <a:t> of AI on the world.</a:t>
            </a:r>
            <a:endParaRPr sz="2250">
              <a:solidFill>
                <a:srgbClr val="1B1B1B"/>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78" name="Google Shape;78;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79" name="Google Shape;79;p17" title="newpage6.jpg"/>
          <p:cNvPicPr preferRelativeResize="0"/>
          <p:nvPr/>
        </p:nvPicPr>
        <p:blipFill>
          <a:blip r:embed="rId3">
            <a:alphaModFix/>
          </a:blip>
          <a:stretch>
            <a:fillRect/>
          </a:stretch>
        </p:blipFill>
        <p:spPr>
          <a:xfrm>
            <a:off x="0" y="0"/>
            <a:ext cx="9143999" cy="5143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6" name="Google Shape;86;p18" title="ChatGPT Image Oct 31, 2025, 10_58_21 AM.png"/>
          <p:cNvPicPr preferRelativeResize="0"/>
          <p:nvPr/>
        </p:nvPicPr>
        <p:blipFill>
          <a:blip r:embed="rId3">
            <a:alphaModFix/>
          </a:blip>
          <a:stretch>
            <a:fillRect/>
          </a:stretch>
        </p:blipFill>
        <p:spPr>
          <a:xfrm>
            <a:off x="-653925" y="-837375"/>
            <a:ext cx="9945400" cy="6407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Artificial Intelligence and its Future</a:t>
            </a:r>
            <a:endParaRPr sz="2100"/>
          </a:p>
        </p:txBody>
      </p:sp>
      <p:sp>
        <p:nvSpPr>
          <p:cNvPr id="92" name="Google Shape;92;p19"/>
          <p:cNvSpPr txBox="1"/>
          <p:nvPr>
            <p:ph idx="1" type="body"/>
          </p:nvPr>
        </p:nvSpPr>
        <p:spPr>
          <a:xfrm>
            <a:off x="311700" y="1017725"/>
            <a:ext cx="8520600" cy="3221700"/>
          </a:xfrm>
          <a:prstGeom prst="rect">
            <a:avLst/>
          </a:prstGeom>
        </p:spPr>
        <p:txBody>
          <a:bodyPr anchorCtr="0" anchor="t" bIns="91425" lIns="91425" spcFirstLastPara="1" rIns="91425" wrap="square" tIns="91425">
            <a:normAutofit fontScale="92500" lnSpcReduction="20000"/>
          </a:bodyPr>
          <a:lstStyle/>
          <a:p>
            <a:pPr indent="-310832" lvl="0" marL="457200" rtl="0" algn="l">
              <a:spcBef>
                <a:spcPts val="0"/>
              </a:spcBef>
              <a:spcAft>
                <a:spcPts val="0"/>
              </a:spcAft>
              <a:buClr>
                <a:schemeClr val="dk1"/>
              </a:buClr>
              <a:buSzPct val="100000"/>
              <a:buChar char="●"/>
            </a:pPr>
            <a:r>
              <a:rPr lang="en" sz="1400">
                <a:solidFill>
                  <a:schemeClr val="dk1"/>
                </a:solidFill>
              </a:rPr>
              <a:t>Today is properly </a:t>
            </a:r>
            <a:r>
              <a:rPr lang="en" sz="1400">
                <a:solidFill>
                  <a:schemeClr val="dk1"/>
                </a:solidFill>
              </a:rPr>
              <a:t>known</a:t>
            </a:r>
            <a:r>
              <a:rPr lang="en" sz="1400">
                <a:solidFill>
                  <a:schemeClr val="dk1"/>
                </a:solidFill>
              </a:rPr>
              <a:t> as Narrow or Weak AI, in that it is designed to </a:t>
            </a:r>
            <a:r>
              <a:rPr lang="en" sz="1400">
                <a:solidFill>
                  <a:schemeClr val="dk1"/>
                </a:solidFill>
              </a:rPr>
              <a:t>perform</a:t>
            </a:r>
            <a:r>
              <a:rPr lang="en" sz="1400">
                <a:solidFill>
                  <a:schemeClr val="dk1"/>
                </a:solidFill>
              </a:rPr>
              <a:t> a narrow task (eg. only </a:t>
            </a:r>
            <a:r>
              <a:rPr lang="en" sz="1400">
                <a:solidFill>
                  <a:schemeClr val="dk1"/>
                </a:solidFill>
              </a:rPr>
              <a:t>facial</a:t>
            </a:r>
            <a:r>
              <a:rPr lang="en" sz="1400">
                <a:solidFill>
                  <a:schemeClr val="dk1"/>
                </a:solidFill>
              </a:rPr>
              <a:t> recognition or only internet searches or </a:t>
            </a:r>
            <a:r>
              <a:rPr lang="en" sz="1400">
                <a:solidFill>
                  <a:schemeClr val="dk1"/>
                </a:solidFill>
              </a:rPr>
              <a:t>only</a:t>
            </a:r>
            <a:r>
              <a:rPr lang="en" sz="1400">
                <a:solidFill>
                  <a:schemeClr val="dk1"/>
                </a:solidFill>
              </a:rPr>
              <a:t> driving a car, embedded in your GPS Systems and amazon </a:t>
            </a:r>
            <a:r>
              <a:rPr lang="en" sz="1400">
                <a:solidFill>
                  <a:schemeClr val="dk1"/>
                </a:solidFill>
              </a:rPr>
              <a:t>recommendations) </a:t>
            </a:r>
            <a:endParaRPr sz="1400">
              <a:solidFill>
                <a:schemeClr val="dk1"/>
              </a:solidFill>
            </a:endParaRPr>
          </a:p>
          <a:p>
            <a:pPr indent="-310832" lvl="0" marL="457200" rtl="0" algn="l">
              <a:spcBef>
                <a:spcPts val="0"/>
              </a:spcBef>
              <a:spcAft>
                <a:spcPts val="0"/>
              </a:spcAft>
              <a:buClr>
                <a:schemeClr val="dk1"/>
              </a:buClr>
              <a:buSzPct val="100000"/>
              <a:buChar char="●"/>
            </a:pPr>
            <a:r>
              <a:rPr lang="en" sz="1400">
                <a:solidFill>
                  <a:schemeClr val="dk1"/>
                </a:solidFill>
              </a:rPr>
              <a:t>However, the long-term goal of many researches is to create general AI( AGI or Strong AI). </a:t>
            </a:r>
            <a:endParaRPr sz="1400">
              <a:solidFill>
                <a:schemeClr val="dk1"/>
              </a:solidFill>
            </a:endParaRPr>
          </a:p>
          <a:p>
            <a:pPr indent="-310832" lvl="0" marL="457200" rtl="0" algn="l">
              <a:spcBef>
                <a:spcPts val="0"/>
              </a:spcBef>
              <a:spcAft>
                <a:spcPts val="0"/>
              </a:spcAft>
              <a:buClr>
                <a:schemeClr val="dk1"/>
              </a:buClr>
              <a:buSzPct val="100000"/>
              <a:buChar char="●"/>
            </a:pPr>
            <a:r>
              <a:rPr lang="en" sz="1400">
                <a:solidFill>
                  <a:schemeClr val="dk1"/>
                </a:solidFill>
              </a:rPr>
              <a:t>While narrow AI may outperform humans at whatever its specific task is, like playing chess or solving equations and AGI a self teaching system would outperform humans at nearly every cognitive task.</a:t>
            </a:r>
            <a:endParaRPr sz="1400">
              <a:solidFill>
                <a:schemeClr val="dk1"/>
              </a:solidFill>
            </a:endParaRPr>
          </a:p>
          <a:p>
            <a:pPr indent="-310832" lvl="0" marL="457200" rtl="0" algn="l">
              <a:spcBef>
                <a:spcPts val="0"/>
              </a:spcBef>
              <a:spcAft>
                <a:spcPts val="0"/>
              </a:spcAft>
              <a:buClr>
                <a:schemeClr val="dk1"/>
              </a:buClr>
              <a:buSzPct val="100000"/>
              <a:buChar char="●"/>
            </a:pPr>
            <a:r>
              <a:rPr lang="en" sz="1400">
                <a:solidFill>
                  <a:schemeClr val="dk1"/>
                </a:solidFill>
              </a:rPr>
              <a:t>Human-level intelligence: AGI would have the ability to think, reason, and make decisions like a human, without being confined to one specific task or domain.</a:t>
            </a:r>
            <a:endParaRPr sz="1400">
              <a:solidFill>
                <a:schemeClr val="dk1"/>
              </a:solidFill>
            </a:endParaRPr>
          </a:p>
          <a:p>
            <a:pPr indent="-310832" lvl="0" marL="457200" rtl="0" algn="l">
              <a:spcBef>
                <a:spcPts val="0"/>
              </a:spcBef>
              <a:spcAft>
                <a:spcPts val="0"/>
              </a:spcAft>
              <a:buClr>
                <a:schemeClr val="dk1"/>
              </a:buClr>
              <a:buSzPct val="100000"/>
              <a:buChar char="●"/>
            </a:pPr>
            <a:r>
              <a:rPr lang="en" sz="1400">
                <a:solidFill>
                  <a:schemeClr val="dk1"/>
                </a:solidFill>
              </a:rPr>
              <a:t>Adaptability and flexibility: It would be able to adapt and apply its knowledge to new and unfamiliar problems, rather than just relying on pre-programmed patterns.</a:t>
            </a:r>
            <a:endParaRPr sz="1400">
              <a:solidFill>
                <a:schemeClr val="dk1"/>
              </a:solidFill>
            </a:endParaRPr>
          </a:p>
          <a:p>
            <a:pPr indent="-310832" lvl="0" marL="457200" rtl="0" algn="l">
              <a:spcBef>
                <a:spcPts val="0"/>
              </a:spcBef>
              <a:spcAft>
                <a:spcPts val="0"/>
              </a:spcAft>
              <a:buClr>
                <a:schemeClr val="dk1"/>
              </a:buClr>
              <a:buSzPct val="100000"/>
              <a:buChar char="●"/>
            </a:pPr>
            <a:r>
              <a:rPr lang="en" sz="1400">
                <a:solidFill>
                  <a:schemeClr val="dk1"/>
                </a:solidFill>
              </a:rPr>
              <a:t>Genuine understanding: AGI would go beyond pattern matching to comprehend underlying concepts and context, something current AI struggles with.</a:t>
            </a:r>
            <a:endParaRPr sz="1400">
              <a:solidFill>
                <a:schemeClr val="dk1"/>
              </a:solidFill>
            </a:endParaRPr>
          </a:p>
          <a:p>
            <a:pPr indent="-310832" lvl="0" marL="457200" rtl="0" algn="l">
              <a:spcBef>
                <a:spcPts val="0"/>
              </a:spcBef>
              <a:spcAft>
                <a:spcPts val="0"/>
              </a:spcAft>
              <a:buClr>
                <a:schemeClr val="dk1"/>
              </a:buClr>
              <a:buSzPct val="100000"/>
              <a:buChar char="●"/>
            </a:pPr>
            <a:r>
              <a:rPr lang="en" sz="1400">
                <a:solidFill>
                  <a:schemeClr val="dk1"/>
                </a:solidFill>
              </a:rPr>
              <a:t>Common sense and reasoning: It would be capable of common sense reasoning, making logical leaps that are clear to humans but difficult for current systems. </a:t>
            </a:r>
            <a:endParaRPr sz="1400">
              <a:solidFill>
                <a:schemeClr val="dk1"/>
              </a:solidFill>
            </a:endParaRPr>
          </a:p>
          <a:p>
            <a:pPr indent="0" lvl="0" marL="457200" rtl="0" algn="l">
              <a:spcBef>
                <a:spcPts val="0"/>
              </a:spcBef>
              <a:spcAft>
                <a:spcPts val="0"/>
              </a:spcAft>
              <a:buNone/>
            </a:pPr>
            <a:r>
              <a:t/>
            </a:r>
            <a:endParaRPr sz="1400">
              <a:solidFill>
                <a:schemeClr val="dk1"/>
              </a:solidFill>
            </a:endParaRPr>
          </a:p>
        </p:txBody>
      </p:sp>
      <p:sp>
        <p:nvSpPr>
          <p:cNvPr id="93" name="Google Shape;93;p19"/>
          <p:cNvSpPr txBox="1"/>
          <p:nvPr>
            <p:ph type="title"/>
          </p:nvPr>
        </p:nvSpPr>
        <p:spPr>
          <a:xfrm>
            <a:off x="311700" y="438490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t/>
            </a:r>
            <a:endParaRPr sz="1000"/>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ctrTitle"/>
          </p:nvPr>
        </p:nvSpPr>
        <p:spPr>
          <a:xfrm>
            <a:off x="480050" y="128100"/>
            <a:ext cx="8397900" cy="571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References</a:t>
            </a:r>
            <a:endParaRPr/>
          </a:p>
        </p:txBody>
      </p:sp>
      <p:sp>
        <p:nvSpPr>
          <p:cNvPr id="99" name="Google Shape;99;p20"/>
          <p:cNvSpPr txBox="1"/>
          <p:nvPr/>
        </p:nvSpPr>
        <p:spPr>
          <a:xfrm>
            <a:off x="480050" y="965650"/>
            <a:ext cx="8200800" cy="37455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800"/>
              </a:spcBef>
              <a:spcAft>
                <a:spcPts val="0"/>
              </a:spcAft>
              <a:buClr>
                <a:schemeClr val="dk1"/>
              </a:buClr>
              <a:buSzPts val="770"/>
              <a:buFont typeface="Arial"/>
              <a:buNone/>
            </a:pPr>
            <a:r>
              <a:rPr lang="en" sz="1100">
                <a:solidFill>
                  <a:schemeClr val="dk1"/>
                </a:solidFill>
              </a:rPr>
              <a:t>Turing, A. M. (1950). </a:t>
            </a:r>
            <a:r>
              <a:rPr i="1" lang="en" sz="1100">
                <a:solidFill>
                  <a:schemeClr val="dk1"/>
                </a:solidFill>
              </a:rPr>
              <a:t>Computing machinery and intelligence.</a:t>
            </a:r>
            <a:r>
              <a:rPr lang="en" sz="1100">
                <a:solidFill>
                  <a:schemeClr val="dk1"/>
                </a:solidFill>
              </a:rPr>
              <a:t> </a:t>
            </a:r>
            <a:r>
              <a:rPr i="1" lang="en" sz="1100">
                <a:solidFill>
                  <a:schemeClr val="dk1"/>
                </a:solidFill>
              </a:rPr>
              <a:t>Mind, 59</a:t>
            </a:r>
            <a:r>
              <a:rPr lang="en" sz="1100">
                <a:solidFill>
                  <a:schemeClr val="dk1"/>
                </a:solidFill>
              </a:rPr>
              <a:t>(236), 433–460.</a:t>
            </a:r>
            <a:endParaRPr sz="1100">
              <a:solidFill>
                <a:schemeClr val="dk1"/>
              </a:solidFill>
            </a:endParaRPr>
          </a:p>
          <a:p>
            <a:pPr indent="0" lvl="0" marL="0" rtl="0" algn="l">
              <a:lnSpc>
                <a:spcPct val="110000"/>
              </a:lnSpc>
              <a:spcBef>
                <a:spcPts val="800"/>
              </a:spcBef>
              <a:spcAft>
                <a:spcPts val="0"/>
              </a:spcAft>
              <a:buClr>
                <a:schemeClr val="dk1"/>
              </a:buClr>
              <a:buSzPts val="770"/>
              <a:buFont typeface="Arial"/>
              <a:buNone/>
            </a:pPr>
            <a:r>
              <a:rPr lang="en" sz="1100">
                <a:solidFill>
                  <a:schemeClr val="dk1"/>
                </a:solidFill>
              </a:rPr>
              <a:t>Weizenbaum, J. (1966). </a:t>
            </a:r>
            <a:r>
              <a:rPr i="1" lang="en" sz="1100">
                <a:solidFill>
                  <a:schemeClr val="dk1"/>
                </a:solidFill>
              </a:rPr>
              <a:t>ELIZA—a computer program for the study of natural language communication between man and machine.</a:t>
            </a:r>
            <a:r>
              <a:rPr lang="en" sz="1100">
                <a:solidFill>
                  <a:schemeClr val="dk1"/>
                </a:solidFill>
              </a:rPr>
              <a:t> </a:t>
            </a:r>
            <a:r>
              <a:rPr i="1" lang="en" sz="1100">
                <a:solidFill>
                  <a:schemeClr val="dk1"/>
                </a:solidFill>
              </a:rPr>
              <a:t>Communications of the ACM, 9</a:t>
            </a:r>
            <a:r>
              <a:rPr lang="en" sz="1100">
                <a:solidFill>
                  <a:schemeClr val="dk1"/>
                </a:solidFill>
              </a:rPr>
              <a:t>(1), 36–45.</a:t>
            </a:r>
            <a:endParaRPr sz="1100">
              <a:solidFill>
                <a:schemeClr val="dk1"/>
              </a:solidFill>
            </a:endParaRPr>
          </a:p>
          <a:p>
            <a:pPr indent="0" lvl="0" marL="0" rtl="0" algn="l">
              <a:lnSpc>
                <a:spcPct val="110000"/>
              </a:lnSpc>
              <a:spcBef>
                <a:spcPts val="800"/>
              </a:spcBef>
              <a:spcAft>
                <a:spcPts val="0"/>
              </a:spcAft>
              <a:buClr>
                <a:schemeClr val="dk1"/>
              </a:buClr>
              <a:buSzPts val="770"/>
              <a:buFont typeface="Arial"/>
              <a:buNone/>
            </a:pPr>
            <a:r>
              <a:rPr lang="en" sz="1100">
                <a:solidFill>
                  <a:schemeClr val="dk1"/>
                </a:solidFill>
              </a:rPr>
              <a:t>OpenAI. (2023). </a:t>
            </a:r>
            <a:r>
              <a:rPr i="1" lang="en" sz="1100">
                <a:solidFill>
                  <a:schemeClr val="dk1"/>
                </a:solidFill>
              </a:rPr>
              <a:t>GPT-4 technical report.</a:t>
            </a:r>
            <a:r>
              <a:rPr lang="en" sz="1100">
                <a:solidFill>
                  <a:schemeClr val="dk1"/>
                </a:solidFill>
              </a:rPr>
              <a:t> </a:t>
            </a:r>
            <a:r>
              <a:rPr i="1" lang="en" sz="1100">
                <a:solidFill>
                  <a:schemeClr val="dk1"/>
                </a:solidFill>
              </a:rPr>
              <a:t>arXiv preprint arXiv:2303.08774.</a:t>
            </a:r>
            <a:endParaRPr i="1" sz="1100">
              <a:solidFill>
                <a:schemeClr val="dk1"/>
              </a:solidFill>
            </a:endParaRPr>
          </a:p>
          <a:p>
            <a:pPr indent="0" lvl="0" marL="0" rtl="0" algn="l">
              <a:lnSpc>
                <a:spcPct val="110000"/>
              </a:lnSpc>
              <a:spcBef>
                <a:spcPts val="800"/>
              </a:spcBef>
              <a:spcAft>
                <a:spcPts val="0"/>
              </a:spcAft>
              <a:buClr>
                <a:schemeClr val="dk1"/>
              </a:buClr>
              <a:buSzPts val="770"/>
              <a:buFont typeface="Arial"/>
              <a:buNone/>
            </a:pPr>
            <a:r>
              <a:rPr lang="en" sz="1100">
                <a:solidFill>
                  <a:schemeClr val="dk1"/>
                </a:solidFill>
              </a:rPr>
              <a:t>“The Complete Timeline of Artificial Intelligence: From Theory to Modern AI Revolution (1950-2025)”, QuillCircuit blog.</a:t>
            </a:r>
            <a:endParaRPr sz="1100">
              <a:solidFill>
                <a:schemeClr val="dk1"/>
              </a:solidFill>
              <a:latin typeface="Play"/>
              <a:ea typeface="Play"/>
              <a:cs typeface="Play"/>
              <a:sym typeface="Play"/>
            </a:endParaRPr>
          </a:p>
          <a:p>
            <a:pPr indent="0" lvl="0" marL="0" rtl="0" algn="l">
              <a:lnSpc>
                <a:spcPct val="110000"/>
              </a:lnSpc>
              <a:spcBef>
                <a:spcPts val="800"/>
              </a:spcBef>
              <a:spcAft>
                <a:spcPts val="0"/>
              </a:spcAft>
              <a:buClr>
                <a:schemeClr val="dk1"/>
              </a:buClr>
              <a:buSzPts val="770"/>
              <a:buFont typeface="Arial"/>
              <a:buNone/>
            </a:pPr>
            <a:r>
              <a:rPr lang="en" sz="1100">
                <a:solidFill>
                  <a:schemeClr val="dk1"/>
                </a:solidFill>
              </a:rPr>
              <a:t>Noguer i Alonso, M. (2024, October 8). Geoffrey Hinton’s contributions to neural networks: </a:t>
            </a:r>
            <a:r>
              <a:rPr i="1" lang="en" sz="1100">
                <a:solidFill>
                  <a:schemeClr val="dk1"/>
                </a:solidFill>
              </a:rPr>
              <a:t>A detailed mathematical exploration.</a:t>
            </a:r>
            <a:endParaRPr sz="1100">
              <a:solidFill>
                <a:schemeClr val="dk1"/>
              </a:solidFill>
              <a:latin typeface="Play"/>
              <a:ea typeface="Play"/>
              <a:cs typeface="Play"/>
              <a:sym typeface="Play"/>
            </a:endParaRPr>
          </a:p>
          <a:p>
            <a:pPr indent="0" lvl="0" marL="0" rtl="0" algn="l">
              <a:lnSpc>
                <a:spcPct val="110000"/>
              </a:lnSpc>
              <a:spcBef>
                <a:spcPts val="800"/>
              </a:spcBef>
              <a:spcAft>
                <a:spcPts val="0"/>
              </a:spcAft>
              <a:buClr>
                <a:schemeClr val="dk1"/>
              </a:buClr>
              <a:buSzPts val="770"/>
              <a:buFont typeface="Arial"/>
              <a:buNone/>
            </a:pPr>
            <a:r>
              <a:t/>
            </a:r>
            <a:endParaRPr sz="1100">
              <a:solidFill>
                <a:schemeClr val="dk1"/>
              </a:solidFill>
              <a:latin typeface="Play"/>
              <a:ea typeface="Play"/>
              <a:cs typeface="Play"/>
              <a:sym typeface="Play"/>
            </a:endParaRPr>
          </a:p>
          <a:p>
            <a:pPr indent="0" lvl="0" marL="0" rtl="0" algn="l">
              <a:spcBef>
                <a:spcPts val="0"/>
              </a:spcBef>
              <a:spcAft>
                <a:spcPts val="0"/>
              </a:spcAft>
              <a:buNone/>
            </a:pPr>
            <a:r>
              <a:rPr lang="en" sz="1100">
                <a:solidFill>
                  <a:schemeClr val="dk1"/>
                </a:solidFill>
              </a:rPr>
              <a:t>Goodfellow, I., Bengio, Y., &amp; Courville, A. (2016). </a:t>
            </a:r>
            <a:r>
              <a:rPr i="1" lang="en" sz="1100">
                <a:solidFill>
                  <a:schemeClr val="dk1"/>
                </a:solidFill>
              </a:rPr>
              <a:t>Deep Learning.</a:t>
            </a:r>
            <a:r>
              <a:rPr lang="en" sz="1100">
                <a:solidFill>
                  <a:schemeClr val="dk1"/>
                </a:solidFill>
              </a:rPr>
              <a:t> MIT Press.</a:t>
            </a:r>
            <a:br>
              <a:rPr lang="en" sz="1100">
                <a:solidFill>
                  <a:schemeClr val="dk1"/>
                </a:solidFill>
              </a:rPr>
            </a:br>
            <a:endParaRPr sz="1100">
              <a:solidFill>
                <a:schemeClr val="dk1"/>
              </a:solidFill>
            </a:endParaRPr>
          </a:p>
          <a:p>
            <a:pPr indent="0" lvl="0" marL="0" rtl="0" algn="l">
              <a:spcBef>
                <a:spcPts val="0"/>
              </a:spcBef>
              <a:spcAft>
                <a:spcPts val="0"/>
              </a:spcAft>
              <a:buNone/>
            </a:pPr>
            <a:r>
              <a:rPr lang="en" sz="1100">
                <a:solidFill>
                  <a:schemeClr val="dk1"/>
                </a:solidFill>
              </a:rPr>
              <a:t>Mell, P., &amp; Grance, T. (2011). </a:t>
            </a:r>
            <a:r>
              <a:rPr i="1" lang="en" sz="1100">
                <a:solidFill>
                  <a:schemeClr val="dk1"/>
                </a:solidFill>
              </a:rPr>
              <a:t>The NIST Definition of Cloud Computing.</a:t>
            </a:r>
            <a:r>
              <a:rPr lang="en" sz="1100">
                <a:solidFill>
                  <a:schemeClr val="dk1"/>
                </a:solidFill>
              </a:rPr>
              <a:t> NIST.</a:t>
            </a:r>
            <a:br>
              <a:rPr lang="en" sz="1100">
                <a:solidFill>
                  <a:schemeClr val="dk1"/>
                </a:solidFill>
              </a:rPr>
            </a:br>
            <a:endParaRPr sz="1100">
              <a:solidFill>
                <a:schemeClr val="dk1"/>
              </a:solidFill>
            </a:endParaRPr>
          </a:p>
          <a:p>
            <a:pPr indent="0" lvl="0" marL="0" rtl="0" algn="l">
              <a:spcBef>
                <a:spcPts val="0"/>
              </a:spcBef>
              <a:spcAft>
                <a:spcPts val="0"/>
              </a:spcAft>
              <a:buNone/>
            </a:pPr>
            <a:r>
              <a:rPr lang="en" sz="1100">
                <a:solidFill>
                  <a:schemeClr val="dk1"/>
                </a:solidFill>
              </a:rPr>
              <a:t>Russell, S., &amp; Norvig, P. (2021). </a:t>
            </a:r>
            <a:r>
              <a:rPr i="1" lang="en" sz="1100">
                <a:solidFill>
                  <a:schemeClr val="dk1"/>
                </a:solidFill>
              </a:rPr>
              <a:t>Artificial Intelligence: A Modern Approach</a:t>
            </a:r>
            <a:r>
              <a:rPr lang="en" sz="1100">
                <a:solidFill>
                  <a:schemeClr val="dk1"/>
                </a:solidFill>
              </a:rPr>
              <a:t> (4th ed.). Pearson.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i="1" sz="1100">
              <a:solidFill>
                <a:schemeClr val="dk1"/>
              </a:solidFill>
            </a:endParaRPr>
          </a:p>
          <a:p>
            <a:pPr indent="0" lvl="0" marL="0" rtl="0" algn="l">
              <a:lnSpc>
                <a:spcPct val="115000"/>
              </a:lnSpc>
              <a:spcBef>
                <a:spcPts val="0"/>
              </a:spcBef>
              <a:spcAft>
                <a:spcPts val="0"/>
              </a:spcAft>
              <a:buNone/>
            </a:pPr>
            <a:r>
              <a:rPr lang="en" sz="1100">
                <a:solidFill>
                  <a:schemeClr val="dk1"/>
                </a:solidFill>
              </a:rPr>
              <a:t>LeanIX GmbH. (2024). </a:t>
            </a:r>
            <a:r>
              <a:rPr i="1" lang="en" sz="1100">
                <a:solidFill>
                  <a:schemeClr val="dk1"/>
                </a:solidFill>
              </a:rPr>
              <a:t>Complete History of AI | LeanIX</a:t>
            </a:r>
            <a:r>
              <a:rPr lang="en" sz="1100">
                <a:solidFill>
                  <a:schemeClr val="dk1"/>
                </a:solidFill>
              </a:rPr>
              <a:t>. Leanix.net. </a:t>
            </a:r>
            <a:r>
              <a:rPr lang="en" sz="1100" u="sng">
                <a:solidFill>
                  <a:schemeClr val="hlink"/>
                </a:solidFill>
                <a:hlinkClick r:id="rId3"/>
              </a:rPr>
              <a:t>https://www.leanix.net/en/wiki/ai-governance/history-of-ai</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Wikipedia Contributors. (2019, October 9). </a:t>
            </a:r>
            <a:r>
              <a:rPr i="1" lang="en" sz="1100">
                <a:solidFill>
                  <a:schemeClr val="dk1"/>
                </a:solidFill>
              </a:rPr>
              <a:t>AI winter</a:t>
            </a:r>
            <a:r>
              <a:rPr lang="en" sz="1100">
                <a:solidFill>
                  <a:schemeClr val="dk1"/>
                </a:solidFill>
              </a:rPr>
              <a:t>. Wikipedia; Wikimedia Foundation. https://en.wikipedia.org/wiki/AI_winter‌</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